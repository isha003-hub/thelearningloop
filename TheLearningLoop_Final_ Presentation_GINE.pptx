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56" y="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856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[morning/afternoon]. We want to present this project the way we would in a job interview, not a classroom — a hard, messy, real-world data problem turned into a working, deployed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Klebsiella pneumoniae is a WHO critical-priority pathogen — carbapenem-resistant strains have up to 50% mortality when last-resort antibiotics fail. A genuinely new target buys a whole new class of drug.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dataset, accuracy lies. A model can look 99.4% accurate and be completely useless — so we report ROC-AUC, PR-AUC, recall, and MCC, metrics that cannot be fooled by class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teams would never mention the bug. We think finding and fixing our own mistake, and proving the fix with real evidence, is a stronger story than a suspiciously clean first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aren't projected numbers — this is a system live right now, independently re-verified, and already used to screen a real fifteen-thousand-compound commercial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decisions I owned directly: an architecture that actually matches the structure of molecular data, and a fingerprint bottleneck that forces the model to compress instead of memorize.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 approach reused the same inactives for 40 epochs and memorized them. Fresh sampling and a controlled four-way test on focal loss are the two decisions we can defend with numbers, not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the threshold rises, accuracy goes up and recall goes down — like the sensitivity knob on a metal detector. We selected 0.55 on validation with a safety margin, then scored test exactly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built the web app that makes this real, running on Azure infrastructure Krutik set up. We pointed the live system at a real, external, commercial compound library and checked what it said.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faster, it's cheaper, and — because of how rigorously we validated it — it's something people can actually trust the output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isn't a script we ran once. FastAPI loads the model once at startup and serves it behind a real API — health checks, Swagger docs, batch CSV upload — packaged in Docker, pushed to Azure Container Registry, and served by Azure App Service behind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reason this project matters isn't that we solved one narrow chemistry problem. The infrastructure we built doesn't care what target it's screening for — the same pipeline could run against a different pathogen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what's next: a multi-pathogen platform, stricter prospective validation, growing the active-compound dataset, and publishing this work. And if you take one thing from this talk: we audit ourselves, we validate rigorously, we ship real systems, and we did 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We're glad to go deeper into any part of this — the architecture, the validation, the deployment, or the code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IN SILICO INC.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2103120" cy="18288"/>
          </a:xfrm>
          <a:prstGeom prst="rect">
            <a:avLst/>
          </a:prstGeom>
          <a:solidFill>
            <a:srgbClr val="E1E7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SPONSOR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48472" y="457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PORTFOLIO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94360" cy="59436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7" name="Image 0" descr="icons/dna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4346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LEARNING LOOP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1031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an AI That Finds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Antibiotics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548640" y="365760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compounds against the SSB–PriA interaction in multidrug-resistant Klebsiella pneumoniae — from a research question to a live, deployed system.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800600"/>
            <a:ext cx="11091672" cy="10973"/>
          </a:xfrm>
          <a:prstGeom prst="rect">
            <a:avLst/>
          </a:prstGeom>
          <a:solidFill>
            <a:srgbClr val="E1E7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548640" y="4983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Ruchi Shah (Lead)   ·   Isha Shah   ·   Krutik Babariya   ·   Dilkhush Yadav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5349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AIGC-5005 Capstone, Humber Polytechnic</a:t>
            </a:r>
            <a:endParaRPr lang="en-US" sz="1050" dirty="0"/>
          </a:p>
        </p:txBody>
      </p:sp>
      <p:pic>
        <p:nvPicPr>
          <p:cNvPr id="14" name="Image 1" descr="figs/hero_ti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1143000"/>
            <a:ext cx="21488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TARGET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2 —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Problem Worth Solving, Not Just an Assignment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846320" cy="4617720"/>
          </a:xfrm>
          <a:prstGeom prst="roundRect">
            <a:avLst>
              <a:gd name="adj" fmla="val 1386"/>
            </a:avLst>
          </a:prstGeom>
          <a:solidFill>
            <a:srgbClr val="FFFFFF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6" name="Image 0" descr="figs/fig1_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23998"/>
            <a:ext cx="4572000" cy="3931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8704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 — The SSB–PriA handshake, and what a drug would do to it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623560" y="1508760"/>
            <a:ext cx="6035040" cy="1417320"/>
          </a:xfrm>
          <a:prstGeom prst="roundRect">
            <a:avLst>
              <a:gd name="adj" fmla="val 4516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5852160" y="16459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Humans Don't Have It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852160" y="201168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cells restart DNA replication a completely different way — a drug that jams this handshake is safe for patients.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5623560" y="3081528"/>
            <a:ext cx="6035040" cy="1417320"/>
          </a:xfrm>
          <a:prstGeom prst="roundRect">
            <a:avLst>
              <a:gd name="adj" fmla="val 4516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5852160" y="321868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Conserved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852160" y="3584448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Gram-negative pathogens share this repair machinery, so one drug could work against several dangerous bacteria at once.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5623560" y="4654296"/>
            <a:ext cx="6035040" cy="1417320"/>
          </a:xfrm>
          <a:prstGeom prst="roundRect">
            <a:avLst>
              <a:gd name="adj" fmla="val 4516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2"/>
          <p:cNvSpPr/>
          <p:nvPr/>
        </p:nvSpPr>
        <p:spPr>
          <a:xfrm>
            <a:off x="5852160" y="4791456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Genuinely New Target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852160" y="5157216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441K+ compounds already screened with no computational triage layer built for this target — before this project.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SOLVED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3 —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1 Molecule in 171 That Actually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sponsor needed to rank hundreds of thousands of candidate molecules — before spending a dollar on lab testing — for a target with an extreme, real-world 0.59% hit rate.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640080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7" name="Image 0" descr="figs/fig2_im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70548"/>
            <a:ext cx="6126480" cy="2341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870448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 — The imbalance, and why accuracy alone is misleading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223760" y="20116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7360920" y="21305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441,244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360920" y="2560320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physically tested in a real lab assay — not a simulation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7223760" y="34747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7360920" y="35935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0.59%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360920" y="4023360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active rate. About 6 useful compounds in every 1,000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7223760" y="49377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7360920" y="505663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99.4%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360920" y="5486400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of a lazy model that says "inactive" every time — and finds zero drugs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4 —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Found Our Own Bug — And That's the Point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molecule can be written two different ways. If one spelling lands in training and the other in test, the model has already seen the answer — data leakage.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85800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7" name="Image 0" descr="figs/fig6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0485"/>
            <a:ext cx="6583680" cy="23810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276088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6 — Data leakage, and how canonical form removes it</a:t>
            </a:r>
            <a:endParaRPr lang="en-US" sz="800" dirty="0"/>
          </a:p>
        </p:txBody>
      </p:sp>
      <p:pic>
        <p:nvPicPr>
          <p:cNvPr id="9" name="Image 1" descr="icons/check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96596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36992" y="19202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audited ourselves.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936992" y="2185416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our own data-integrity check and found duplicate molecules leaking between train and test.</a:t>
            </a:r>
            <a:endParaRPr lang="en-US" sz="920" dirty="0"/>
          </a:p>
        </p:txBody>
      </p:sp>
      <p:pic>
        <p:nvPicPr>
          <p:cNvPr id="12" name="Image 2" descr="icons/check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13639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6992" y="30906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rebuilt it properly.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7936992" y="3355848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Canonicalized every molecule, removed 27 duplicates and 13 ambiguous labels — not a patch.</a:t>
            </a:r>
            <a:endParaRPr lang="en-US" sz="920" dirty="0"/>
          </a:p>
        </p:txBody>
      </p:sp>
      <p:pic>
        <p:nvPicPr>
          <p:cNvPr id="15" name="Image 3" descr="icons/check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306824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36992" y="426110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reported the honest number.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7936992" y="452628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went down from 0.9011 to 0.8815 — the true score, not the flattering one.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ACHIEVED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5 —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Prototype — A Working, Proven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85800" y="15819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86.10%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accuracy, above sponsor's 85% floor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3108960" y="14630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246120" y="15819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0.8928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201168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ROC-AUC (3 seeds)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5669280" y="14630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5806440" y="15819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06440" y="201168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— cannot be fooled by imbalance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8229600" y="14630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8366760" y="15819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011680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Azure, real traffic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841248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8" name="Image 0" descr="figs/fig14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53240"/>
            <a:ext cx="8138160" cy="295288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5800" y="596188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14 — Confusion matrix and final test metrics, said in plain words</a:t>
            </a:r>
            <a:endParaRPr lang="en-US" sz="800" dirty="0"/>
          </a:p>
        </p:txBody>
      </p:sp>
      <p:pic>
        <p:nvPicPr>
          <p:cNvPr id="20" name="Image 1" descr="icons/check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834640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509760" y="276148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cross-validation: ROC-AUC 0.8842 ± 0.0069 — stable, not a lucky split.</a:t>
            </a:r>
            <a:endParaRPr lang="en-US" sz="900" dirty="0"/>
          </a:p>
        </p:txBody>
      </p:sp>
      <p:pic>
        <p:nvPicPr>
          <p:cNvPr id="22" name="Image 2" descr="icons/check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3886200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509760" y="381304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Independently reproduced our own final numbers from saved weights.</a:t>
            </a:r>
            <a:endParaRPr lang="en-US" sz="900" dirty="0"/>
          </a:p>
        </p:txBody>
      </p:sp>
      <p:pic>
        <p:nvPicPr>
          <p:cNvPr id="24" name="Image 3" descr="icons/check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4937760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09760" y="486460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Screened a real, 15,538-compound commercial library through the live system.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MERITS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6 —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Decisions We Owned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94360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6" name="Image 0" descr="figs/fig9_branch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03322"/>
            <a:ext cx="5669280" cy="33725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916168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9 — The two branches and how they join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720840" y="1463040"/>
            <a:ext cx="4937760" cy="2240280"/>
          </a:xfrm>
          <a:prstGeom prst="roundRect">
            <a:avLst>
              <a:gd name="adj" fmla="val 285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6949440" y="1645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GINE, Not GAT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49440" y="205740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 and GCN average neighbour signals — a model using averaging cannot tell one methyl group from three. GINE sums them. Xu et al. (2019) proved sum-based GIN matches the Weisfeiler–Leman test — the theoretical ceiling for this model family.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20840" y="3886200"/>
            <a:ext cx="4937760" cy="2240280"/>
          </a:xfrm>
          <a:prstGeom prst="roundRect">
            <a:avLst>
              <a:gd name="adj" fmla="val 285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6949440" y="4069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Fingerprint Bottleneck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49440" y="448056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squeezed the fingerprint branch from 2048 raw bits to 128 because the full-size version was memorising molecules as a lookup table, not learning chemistry — that cut parameters from 826K to 494K and reduced overfitting.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MERITS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7 —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Original Contributions We Own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1955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6" name="Image 0" descr="figs/fig11_train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091" y="1554480"/>
            <a:ext cx="6576657" cy="17556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447288"/>
            <a:ext cx="9921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11 — Training curves, and the overfitting gap staying healthy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777240" y="405079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Resampling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38912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reusing the same 3,594 inactive molecules for 40 epochs, we draw a fresh set every epoch from a pool of 58,250. The overfitting gap fell from 17 points to 7–11, and the model saw 6.7× more unique chemistry.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88620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6080760" y="405079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Focal Loss — Proven, Not Assumed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080760" y="438912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ran a controlled four-way comparison on identical data before choosing. Strategy D (dynamic + focal) won on both overfitting gap (7.57) and balanced accuracy (81.67%) — not the single highest headline number.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8 —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Threshold, and Proving It's Not Overfitting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649224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6" name="Image 0" descr="figs/fig13_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81645"/>
            <a:ext cx="6217920" cy="32100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95604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13 — Accuracy and recall move in opposite directions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749808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0.55?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0" y="187452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required an 85% accuracy floor. Among thresholds clearing it, 0.55 gave the highest recall — a missed drug is lost forever; a false alarm just costs a little lab time.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7269480" y="34290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7498080" y="3566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Cross-validation is stable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98080" y="388620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ROC-AUC: 0.8842 ± 0.0069 across 7,704 pooled predictions. It also showed the sponsor's combined ask (85% accuracy AND 80% recall) isn't reachable at any single threshold — we reported that rather than hiding it.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10 —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Didn't Stop at the Notebook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live. We used it to screen a real commercial compound library — not our own training data — and validated its predictions against published literature values.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7" name="Image 0" descr="figs/fig16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88190"/>
            <a:ext cx="5303520" cy="28886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614476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16 — The complete pipeline, from raw SMILES to live endpoint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355080" y="192024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6492240" y="20391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15,538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92240" y="2468880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from a real commercial antibacterial library, screened end to end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6355080" y="310896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6492240" y="3227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92240" y="3657600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cross-checked against independently published activity data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6355080" y="429768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6492240" y="4416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ML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92240" y="4846320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online endpoint, CPU instance — a 494K-parameter model doesn't need GPU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6355080" y="5532120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6492240" y="5532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gnn-learningloop-docker-...azurewebsites.net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9 —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Outcome Actually Buys the Business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29000" cy="2423160"/>
          </a:xfrm>
          <a:prstGeom prst="roundRect">
            <a:avLst>
              <a:gd name="adj" fmla="val 3019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7" name="Image 0" descr="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2000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88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a full library in seconds instead of weeks of manual triage before any wet-lab work begins.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429000" cy="2423160"/>
          </a:xfrm>
          <a:prstGeom prst="roundRect">
            <a:avLst>
              <a:gd name="adj" fmla="val 3019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8"/>
          <p:cNvSpPr/>
          <p:nvPr/>
        </p:nvSpPr>
        <p:spPr>
          <a:xfrm>
            <a:off x="4526280" y="2057400"/>
            <a:ext cx="548640" cy="54864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2" name="Image 1" descr="icons/dol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926" y="220004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788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26280" y="31546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lab test costs real money — sending only the top-ranked candidates cuts wasted experiments.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1783080"/>
            <a:ext cx="3429000" cy="2423160"/>
          </a:xfrm>
          <a:prstGeom prst="roundRect">
            <a:avLst>
              <a:gd name="adj" fmla="val 3019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2"/>
          <p:cNvSpPr/>
          <p:nvPr/>
        </p:nvSpPr>
        <p:spPr>
          <a:xfrm>
            <a:off x="8275320" y="2057400"/>
            <a:ext cx="548640" cy="54864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7" name="Image 2" descr="icons/tru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66" y="220004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2788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75320" y="31546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and independent reproduction mean the numbers hold up to scrutiny, not just a nice-looking demo.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434840"/>
            <a:ext cx="10195560" cy="1051560"/>
          </a:xfrm>
          <a:prstGeom prst="roundRect">
            <a:avLst>
              <a:gd name="adj" fmla="val 6087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6"/>
          <p:cNvSpPr/>
          <p:nvPr/>
        </p:nvSpPr>
        <p:spPr>
          <a:xfrm>
            <a:off x="822960" y="45720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model, a lab testing at random finds about 6 useful compounds in every 1,000. With the model ranking the list, they test the top candidates instead — and the hit rate rises enormously.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11 —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Like Production Software, Not Just a Notebook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572768" cy="685800"/>
          </a:xfrm>
          <a:prstGeom prst="roundRect">
            <a:avLst>
              <a:gd name="adj" fmla="val 666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83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30" dirty="0"/>
          </a:p>
          <a:p>
            <a:pPr marL="0" indent="0" algn="ctr">
              <a:lnSpc>
                <a:spcPts val="1030"/>
              </a:lnSpc>
              <a:buNone/>
            </a:pPr>
            <a:r>
              <a:rPr lang="en-US" sz="83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(CSV)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2130552" y="1851660"/>
            <a:ext cx="109728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2249424" y="1508760"/>
            <a:ext cx="1572768" cy="685800"/>
          </a:xfrm>
          <a:prstGeom prst="roundRect">
            <a:avLst>
              <a:gd name="adj" fmla="val 666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2249424" y="150876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83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+</a:t>
            </a:r>
            <a:endParaRPr lang="en-US" sz="830" dirty="0"/>
          </a:p>
          <a:p>
            <a:pPr marL="0" indent="0" algn="ctr">
              <a:lnSpc>
                <a:spcPts val="1030"/>
              </a:lnSpc>
              <a:buNone/>
            </a:pPr>
            <a:r>
              <a:rPr lang="en-US" sz="83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RDKit Parse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831336" y="1851660"/>
            <a:ext cx="109728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950208" y="1508760"/>
            <a:ext cx="1572768" cy="685800"/>
          </a:xfrm>
          <a:prstGeom prst="roundRect">
            <a:avLst>
              <a:gd name="adj" fmla="val 666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950208" y="150876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83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GINE</a:t>
            </a:r>
            <a:endParaRPr lang="en-US" sz="830" dirty="0"/>
          </a:p>
          <a:p>
            <a:pPr marL="0" indent="0" algn="ctr">
              <a:lnSpc>
                <a:spcPts val="1030"/>
              </a:lnSpc>
              <a:buNone/>
            </a:pPr>
            <a:r>
              <a:rPr lang="en-US" sz="83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(PyTorch)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532120" y="1851660"/>
            <a:ext cx="109728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5650992" y="1508760"/>
            <a:ext cx="1572768" cy="685800"/>
          </a:xfrm>
          <a:prstGeom prst="roundRect">
            <a:avLst>
              <a:gd name="adj" fmla="val 666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650992" y="150876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83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830" dirty="0"/>
          </a:p>
          <a:p>
            <a:pPr marL="0" indent="0" algn="ctr">
              <a:lnSpc>
                <a:spcPts val="1030"/>
              </a:lnSpc>
              <a:buNone/>
            </a:pPr>
            <a:r>
              <a:rPr lang="en-US" sz="83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7232904" y="1851660"/>
            <a:ext cx="109728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7351776" y="1508760"/>
            <a:ext cx="1572768" cy="685800"/>
          </a:xfrm>
          <a:prstGeom prst="roundRect">
            <a:avLst>
              <a:gd name="adj" fmla="val 6667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7351776" y="150876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83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→</a:t>
            </a:r>
            <a:endParaRPr lang="en-US" sz="830" dirty="0"/>
          </a:p>
          <a:p>
            <a:pPr marL="0" indent="0" algn="ctr">
              <a:lnSpc>
                <a:spcPts val="1030"/>
              </a:lnSpc>
              <a:buNone/>
            </a:pPr>
            <a:r>
              <a:rPr lang="en-US" sz="83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ACR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933688" y="1851660"/>
            <a:ext cx="109728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9052560" y="1508760"/>
            <a:ext cx="1572768" cy="68580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052560" y="1508760"/>
            <a:ext cx="1572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App</a:t>
            </a:r>
            <a:endParaRPr lang="en-US" sz="830" dirty="0"/>
          </a:p>
          <a:p>
            <a:pPr marL="0" indent="0" algn="ctr">
              <a:lnSpc>
                <a:spcPts val="103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→ Browser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48640" y="2267712"/>
            <a:ext cx="10195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— The complete path from raw SMILES to a live prediction, end to end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2697480"/>
            <a:ext cx="4892040" cy="3520440"/>
          </a:xfrm>
          <a:prstGeom prst="roundRect">
            <a:avLst>
              <a:gd name="adj" fmla="val 1818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777240" y="28803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API, Not a Script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2004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trained model loads into memory once at startup; every request reuses it — no reload latency per prediction.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7240" y="374904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777240" y="37490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37490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08960" y="371246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a single SMILES string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777240" y="434340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777240" y="43434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45920" y="43434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/predict-csv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08960" y="430682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prediction from an uploaded CSV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777240" y="493776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5EA8A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777240" y="49377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45920" y="49377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108960" y="490118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endpoint Azure polls to confirm the service is alive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777240" y="553212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5EA8A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777240" y="55321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645920" y="5532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108960" y="549554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Swagger documentation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5623560" y="2697480"/>
            <a:ext cx="5120640" cy="3520440"/>
          </a:xfrm>
          <a:prstGeom prst="roundRect">
            <a:avLst>
              <a:gd name="adj" fmla="val 1818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5852160" y="2880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Stack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852160" y="329184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66560" y="32918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JavaScript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8321040" y="329184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235440" y="32918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830" dirty="0"/>
          </a:p>
        </p:txBody>
      </p:sp>
      <p:sp>
        <p:nvSpPr>
          <p:cNvPr id="48" name="Text 46"/>
          <p:cNvSpPr/>
          <p:nvPr/>
        </p:nvSpPr>
        <p:spPr>
          <a:xfrm>
            <a:off x="5852160" y="360273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766560" y="36027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8321040" y="360273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235440" y="36027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 Geometric</a:t>
            </a:r>
            <a:endParaRPr lang="en-US" sz="830" dirty="0"/>
          </a:p>
        </p:txBody>
      </p:sp>
      <p:sp>
        <p:nvSpPr>
          <p:cNvPr id="52" name="Text 50"/>
          <p:cNvSpPr/>
          <p:nvPr/>
        </p:nvSpPr>
        <p:spPr>
          <a:xfrm>
            <a:off x="5852160" y="39136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66560" y="39136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RDKit</a:t>
            </a:r>
            <a:endParaRPr lang="en-US" sz="830" dirty="0"/>
          </a:p>
        </p:txBody>
      </p:sp>
      <p:sp>
        <p:nvSpPr>
          <p:cNvPr id="54" name="Text 52"/>
          <p:cNvSpPr/>
          <p:nvPr/>
        </p:nvSpPr>
        <p:spPr>
          <a:xfrm>
            <a:off x="8321040" y="39136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235440" y="39136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830" dirty="0"/>
          </a:p>
        </p:txBody>
      </p:sp>
      <p:sp>
        <p:nvSpPr>
          <p:cNvPr id="56" name="Text 54"/>
          <p:cNvSpPr/>
          <p:nvPr/>
        </p:nvSpPr>
        <p:spPr>
          <a:xfrm>
            <a:off x="5852160" y="422452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766560" y="42245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Container Registry</a:t>
            </a:r>
            <a:endParaRPr lang="en-US" sz="830" dirty="0"/>
          </a:p>
        </p:txBody>
      </p:sp>
      <p:sp>
        <p:nvSpPr>
          <p:cNvPr id="58" name="Text 56"/>
          <p:cNvSpPr/>
          <p:nvPr/>
        </p:nvSpPr>
        <p:spPr>
          <a:xfrm>
            <a:off x="8321040" y="422452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235440" y="422452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App Service (Linux)</a:t>
            </a:r>
            <a:endParaRPr lang="en-US" sz="830" dirty="0"/>
          </a:p>
        </p:txBody>
      </p:sp>
      <p:sp>
        <p:nvSpPr>
          <p:cNvPr id="60" name="Text 58"/>
          <p:cNvSpPr/>
          <p:nvPr/>
        </p:nvSpPr>
        <p:spPr>
          <a:xfrm>
            <a:off x="5852160" y="453542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766560" y="453542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Gunicorn / Uvicorn</a:t>
            </a:r>
            <a:endParaRPr lang="en-US" sz="830" dirty="0"/>
          </a:p>
        </p:txBody>
      </p:sp>
      <p:sp>
        <p:nvSpPr>
          <p:cNvPr id="62" name="Text 60"/>
          <p:cNvSpPr/>
          <p:nvPr/>
        </p:nvSpPr>
        <p:spPr>
          <a:xfrm>
            <a:off x="5852160" y="52120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BF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prediction is reproducible: the exact model weights, featurizer version, and locked threshold ship inside the Docker image — nothing drifts silently between runs.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CAN 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12 —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Bigger Than One Bacterium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methodology transfers far beyond this one project.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02920" cy="50292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7" name="Image 0" descr="icons/vir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21424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517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Pathogens &amp; Targets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pipeline applies to any protein-protein interaction target, in any drug-resistant organism — not just SSB–PriA in K. pneumoniae.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2011680"/>
            <a:ext cx="502920" cy="50292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1" name="Image 1" descr="icons/d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439" y="21424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97680" y="26517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Antibiotics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297680" y="315468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Antiviral, antifungal, and oncology screening face the exact same challenge: a huge library and a tiny fraction of real hits.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2011680"/>
            <a:ext cx="502920" cy="50292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5" name="Image 2" descr="icons/at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479" y="214243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0" y="26517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Chemistry Entirely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046720" y="315468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resampling, focal loss, and validation-only threshold tuning are general answers to severe class imbalance — fraud detection, rare-disease diagnosis, manufacturing defect detection.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4617720"/>
            <a:ext cx="9966960" cy="10973"/>
          </a:xfrm>
          <a:prstGeom prst="rect">
            <a:avLst/>
          </a:prstGeom>
          <a:solidFill>
            <a:srgbClr val="E1E7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4"/>
          <p:cNvSpPr/>
          <p:nvPr/>
        </p:nvSpPr>
        <p:spPr>
          <a:xfrm>
            <a:off x="548640" y="47548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was never “Klebsiella pneumoniae” specifically — it was building a reliable way to find rare signal in an overwhelming amount of noisy, imbalanced data. That skill generalizes.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THE TAKEAWAY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13 —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We'd Build Next — and What This Says About How We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We'd Build Next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13232" y="19202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multi-target platform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377440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against multiple resistant pathogens from a single unified system.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364992" y="19202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Stricter, prospective validation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64992" y="2377440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Scaffold-based splitting to test generalization to genuinely novel chemistry.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78308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016752" y="19202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confirmed active data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16752" y="2377440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only 2,568 actives, this is the biggest lever left to pull.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503920" y="1783080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F3F6F6"/>
          </a:solidFill>
          <a:ln w="12700">
            <a:solidFill>
              <a:srgbClr val="E1E7E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8668512" y="1920240"/>
            <a:ext cx="2459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68512" y="2377440"/>
            <a:ext cx="2459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Submitting this work for academic publication with our sponsor.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10195560" cy="10973"/>
          </a:xfrm>
          <a:prstGeom prst="rect">
            <a:avLst/>
          </a:prstGeom>
          <a:solidFill>
            <a:srgbClr val="E1E7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Says About How We Work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2468880" cy="2331720"/>
          </a:xfrm>
          <a:prstGeom prst="roundRect">
            <a:avLst>
              <a:gd name="adj" fmla="val 2353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713232" y="4096512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audit our own work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3232" y="4572000"/>
            <a:ext cx="213969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found and fixed a real bug before anyone else could — and reported the honest, lower number openly.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200400" y="3931920"/>
            <a:ext cx="2468880" cy="2331720"/>
          </a:xfrm>
          <a:prstGeom prst="roundRect">
            <a:avLst>
              <a:gd name="adj" fmla="val 2353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364992" y="4096512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validate rigorously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64992" y="4572000"/>
            <a:ext cx="213969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and independent reproduction, not one lucky metric — and we say what we don't know.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852160" y="3931920"/>
            <a:ext cx="2468880" cy="2331720"/>
          </a:xfrm>
          <a:prstGeom prst="roundRect">
            <a:avLst>
              <a:gd name="adj" fmla="val 2353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6016752" y="4096512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ship, not just prototype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16752" y="4572000"/>
            <a:ext cx="213969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API, containerized and deployed on Azure — not a notebook that only runs once.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8503920" y="3931920"/>
            <a:ext cx="2788920" cy="2331720"/>
          </a:xfrm>
          <a:prstGeom prst="roundRect">
            <a:avLst>
              <a:gd name="adj" fmla="val 2353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8668512" y="4096512"/>
            <a:ext cx="2459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work as a team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68512" y="4572000"/>
            <a:ext cx="245973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people, one accountable pipeline — from data audit to deployment to this room.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gs/hero_th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752" y="4398264"/>
            <a:ext cx="2377440" cy="2139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28716" y="914400"/>
            <a:ext cx="731520" cy="73152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1" descr="icons/dn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911" y="1104595"/>
            <a:ext cx="351130" cy="3511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19202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0" y="2697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walk through the code, the data, or the live system.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808476" y="3337560"/>
            <a:ext cx="4572000" cy="10973"/>
          </a:xfrm>
          <a:prstGeom prst="rect">
            <a:avLst/>
          </a:prstGeom>
          <a:solidFill>
            <a:srgbClr val="E1E7E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4"/>
          <p:cNvSpPr/>
          <p:nvPr/>
        </p:nvSpPr>
        <p:spPr>
          <a:xfrm>
            <a:off x="0" y="35661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Ruchi Shah   ·   Isha Shah   ·   Krutik Babariya   ·   Dilkhush Yadav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0" y="39319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Sponsor: Living In Silico Inc.   ·   Supervisors: Prof. Timothy Wong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0" y="4224528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AIGC-5005 Capstone Project   ·   Faculty of Applied Sciences &amp; Technology, Humber Polytechnic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2141</Words>
  <Application>Microsoft Office PowerPoint</Application>
  <PresentationFormat>Widescreen</PresentationFormat>
  <Paragraphs>217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Ruchi Shah</cp:lastModifiedBy>
  <cp:revision>2</cp:revision>
  <dcterms:created xsi:type="dcterms:W3CDTF">2026-08-11T01:46:26Z</dcterms:created>
  <dcterms:modified xsi:type="dcterms:W3CDTF">2026-08-11T03:34:29Z</dcterms:modified>
</cp:coreProperties>
</file>